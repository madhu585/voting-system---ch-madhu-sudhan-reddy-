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90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DFE7F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FE7F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734673" y="6037264"/>
            <a:ext cx="6569709" cy="9525"/>
          </a:xfrm>
          <a:custGeom>
            <a:avLst/>
            <a:gdLst/>
            <a:ahLst/>
            <a:cxnLst/>
            <a:rect l="l" t="t" r="r" b="b"/>
            <a:pathLst>
              <a:path w="6569709" h="9525">
                <a:moveTo>
                  <a:pt x="0" y="9524"/>
                </a:moveTo>
                <a:lnTo>
                  <a:pt x="6569668" y="0"/>
                </a:lnTo>
              </a:path>
            </a:pathLst>
          </a:custGeom>
          <a:ln w="19050">
            <a:solidFill>
              <a:srgbClr val="DFE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734703" y="4243394"/>
            <a:ext cx="6569709" cy="9525"/>
          </a:xfrm>
          <a:custGeom>
            <a:avLst/>
            <a:gdLst/>
            <a:ahLst/>
            <a:cxnLst/>
            <a:rect l="l" t="t" r="r" b="b"/>
            <a:pathLst>
              <a:path w="6569709" h="9525">
                <a:moveTo>
                  <a:pt x="0" y="9524"/>
                </a:moveTo>
                <a:lnTo>
                  <a:pt x="6569668" y="0"/>
                </a:lnTo>
              </a:path>
            </a:pathLst>
          </a:custGeom>
          <a:ln w="19050">
            <a:solidFill>
              <a:srgbClr val="DFE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FE7F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FE7F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3325" y="0"/>
            <a:ext cx="10726338" cy="6934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50" y="515136"/>
            <a:ext cx="16746008" cy="2204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DFE7FF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1575" y="3352799"/>
            <a:ext cx="8315614" cy="69341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66750" y="2830180"/>
            <a:ext cx="16954500" cy="0"/>
          </a:xfrm>
          <a:custGeom>
            <a:avLst/>
            <a:gdLst/>
            <a:ahLst/>
            <a:cxnLst/>
            <a:rect l="l" t="t" r="r" b="b"/>
            <a:pathLst>
              <a:path w="16954500">
                <a:moveTo>
                  <a:pt x="0" y="0"/>
                </a:moveTo>
                <a:lnTo>
                  <a:pt x="16954500" y="0"/>
                </a:lnTo>
              </a:path>
            </a:pathLst>
          </a:custGeom>
          <a:ln w="19050">
            <a:solidFill>
              <a:srgbClr val="DFE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sz="14300" spc="-300" dirty="0"/>
              <a:t>Online</a:t>
            </a:r>
            <a:r>
              <a:rPr sz="14300" spc="-790" dirty="0"/>
              <a:t> </a:t>
            </a:r>
            <a:r>
              <a:rPr sz="14300" spc="-1745" dirty="0"/>
              <a:t>V</a:t>
            </a:r>
            <a:r>
              <a:rPr sz="14300" spc="-545" dirty="0"/>
              <a:t>o</a:t>
            </a:r>
            <a:r>
              <a:rPr sz="14300" spc="-535" dirty="0"/>
              <a:t>t</a:t>
            </a:r>
            <a:r>
              <a:rPr sz="14300" spc="-545" dirty="0"/>
              <a:t>i</a:t>
            </a:r>
            <a:r>
              <a:rPr sz="14300" spc="-540" dirty="0"/>
              <a:t>n</a:t>
            </a:r>
            <a:r>
              <a:rPr sz="14300" spc="-250" dirty="0"/>
              <a:t>g</a:t>
            </a:r>
            <a:r>
              <a:rPr sz="14300" spc="-790" dirty="0"/>
              <a:t> </a:t>
            </a:r>
            <a:r>
              <a:rPr sz="14300" spc="-415" dirty="0"/>
              <a:t>System</a:t>
            </a:r>
            <a:endParaRPr sz="14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9875" y="0"/>
            <a:ext cx="7858109" cy="102830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94" y="581695"/>
            <a:ext cx="5738495" cy="20828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ts val="7800"/>
              </a:lnSpc>
              <a:spcBef>
                <a:spcPts val="800"/>
              </a:spcBef>
            </a:pPr>
            <a:r>
              <a:rPr i="1" spc="229" dirty="0">
                <a:latin typeface="Calibri"/>
                <a:cs typeface="Calibri"/>
              </a:rPr>
              <a:t>Introduction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spc="-140" dirty="0">
                <a:latin typeface="Calibri"/>
                <a:cs typeface="Calibri"/>
              </a:rPr>
              <a:t>to </a:t>
            </a:r>
            <a:r>
              <a:rPr i="1" spc="280" dirty="0">
                <a:latin typeface="Calibri"/>
                <a:cs typeface="Calibri"/>
              </a:rPr>
              <a:t>Online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spc="40" dirty="0">
                <a:latin typeface="Calibri"/>
                <a:cs typeface="Calibri"/>
              </a:rPr>
              <a:t>Voting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794" y="3390963"/>
            <a:ext cx="7117715" cy="108267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284"/>
              </a:spcBef>
            </a:pPr>
            <a:r>
              <a:rPr sz="3500" spc="-40" dirty="0">
                <a:solidFill>
                  <a:srgbClr val="DFE7FF"/>
                </a:solidFill>
                <a:latin typeface="Book Antiqua"/>
                <a:cs typeface="Book Antiqua"/>
              </a:rPr>
              <a:t>Understanding </a:t>
            </a:r>
            <a:r>
              <a:rPr sz="3500" dirty="0">
                <a:solidFill>
                  <a:srgbClr val="DFE7FF"/>
                </a:solidFill>
                <a:latin typeface="Book Antiqua"/>
                <a:cs typeface="Book Antiqua"/>
              </a:rPr>
              <a:t>the</a:t>
            </a:r>
            <a:r>
              <a:rPr sz="3500" spc="-4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3500" dirty="0">
                <a:solidFill>
                  <a:srgbClr val="DFE7FF"/>
                </a:solidFill>
                <a:latin typeface="Book Antiqua"/>
                <a:cs typeface="Book Antiqua"/>
              </a:rPr>
              <a:t>concept</a:t>
            </a:r>
            <a:r>
              <a:rPr sz="3500" spc="-4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3500" spc="-25" dirty="0">
                <a:solidFill>
                  <a:srgbClr val="DFE7FF"/>
                </a:solidFill>
                <a:latin typeface="Book Antiqua"/>
                <a:cs typeface="Book Antiqua"/>
              </a:rPr>
              <a:t>and </a:t>
            </a:r>
            <a:r>
              <a:rPr sz="3500" dirty="0">
                <a:solidFill>
                  <a:srgbClr val="DFE7FF"/>
                </a:solidFill>
                <a:latin typeface="Book Antiqua"/>
                <a:cs typeface="Book Antiqua"/>
              </a:rPr>
              <a:t>significance</a:t>
            </a:r>
            <a:r>
              <a:rPr sz="3500" spc="-8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3500" dirty="0">
                <a:solidFill>
                  <a:srgbClr val="DFE7FF"/>
                </a:solidFill>
                <a:latin typeface="Book Antiqua"/>
                <a:cs typeface="Book Antiqua"/>
              </a:rPr>
              <a:t>of</a:t>
            </a:r>
            <a:r>
              <a:rPr sz="3500" spc="-7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3500" dirty="0">
                <a:solidFill>
                  <a:srgbClr val="DFE7FF"/>
                </a:solidFill>
                <a:latin typeface="Book Antiqua"/>
                <a:cs typeface="Book Antiqua"/>
              </a:rPr>
              <a:t>online</a:t>
            </a:r>
            <a:r>
              <a:rPr sz="3500" spc="-7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3500" spc="-95" dirty="0">
                <a:solidFill>
                  <a:srgbClr val="DFE7FF"/>
                </a:solidFill>
                <a:latin typeface="Book Antiqua"/>
                <a:cs typeface="Book Antiqua"/>
              </a:rPr>
              <a:t>voting</a:t>
            </a:r>
            <a:r>
              <a:rPr sz="3500" spc="-7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3500" spc="-30" dirty="0">
                <a:solidFill>
                  <a:srgbClr val="DFE7FF"/>
                </a:solidFill>
                <a:latin typeface="Book Antiqua"/>
                <a:cs typeface="Book Antiqua"/>
              </a:rPr>
              <a:t>systems</a:t>
            </a:r>
            <a:endParaRPr sz="35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6750" y="3083554"/>
            <a:ext cx="7211695" cy="0"/>
          </a:xfrm>
          <a:custGeom>
            <a:avLst/>
            <a:gdLst/>
            <a:ahLst/>
            <a:cxnLst/>
            <a:rect l="l" t="t" r="r" b="b"/>
            <a:pathLst>
              <a:path w="7211695">
                <a:moveTo>
                  <a:pt x="0" y="0"/>
                </a:moveTo>
                <a:lnTo>
                  <a:pt x="7211120" y="0"/>
                </a:lnTo>
              </a:path>
            </a:pathLst>
          </a:custGeom>
          <a:ln w="19050">
            <a:solidFill>
              <a:srgbClr val="DFE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3794" y="4943553"/>
            <a:ext cx="714311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An</a:t>
            </a:r>
            <a:r>
              <a:rPr sz="20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online</a:t>
            </a:r>
            <a:r>
              <a:rPr sz="20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200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DFE7FF"/>
                </a:solidFill>
                <a:latin typeface="Calibri"/>
                <a:cs typeface="Calibri"/>
              </a:rPr>
              <a:t>system</a:t>
            </a:r>
            <a:r>
              <a:rPr sz="20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enables</a:t>
            </a:r>
            <a:r>
              <a:rPr sz="200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citizens</a:t>
            </a:r>
            <a:r>
              <a:rPr sz="20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cast</a:t>
            </a:r>
            <a:r>
              <a:rPr sz="200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their</a:t>
            </a:r>
            <a:r>
              <a:rPr sz="20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votes</a:t>
            </a:r>
            <a:r>
              <a:rPr sz="200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via</a:t>
            </a:r>
            <a:r>
              <a:rPr sz="20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secure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digital</a:t>
            </a:r>
            <a:r>
              <a:rPr sz="200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platforms.</a:t>
            </a:r>
            <a:r>
              <a:rPr sz="20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This</a:t>
            </a:r>
            <a:r>
              <a:rPr sz="20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innovative</a:t>
            </a:r>
            <a:r>
              <a:rPr sz="200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approach</a:t>
            </a:r>
            <a:r>
              <a:rPr sz="20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aims</a:t>
            </a:r>
            <a:r>
              <a:rPr sz="20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enhance </a:t>
            </a:r>
            <a:r>
              <a:rPr sz="2000" b="1" spc="-10" dirty="0">
                <a:solidFill>
                  <a:srgbClr val="DFE7FF"/>
                </a:solidFill>
                <a:latin typeface="Calibri"/>
                <a:cs typeface="Calibri"/>
              </a:rPr>
              <a:t>accessibility</a:t>
            </a:r>
            <a:r>
              <a:rPr sz="2000" b="1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DFE7FF"/>
                </a:solidFill>
                <a:latin typeface="Calibri"/>
                <a:cs typeface="Calibri"/>
              </a:rPr>
              <a:t>and</a:t>
            </a:r>
            <a:r>
              <a:rPr sz="2000" b="1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DFE7FF"/>
                </a:solidFill>
                <a:latin typeface="Calibri"/>
                <a:cs typeface="Calibri"/>
              </a:rPr>
              <a:t>efficiency</a:t>
            </a:r>
            <a:r>
              <a:rPr sz="2000" b="1" spc="-2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while</a:t>
            </a:r>
            <a:r>
              <a:rPr sz="20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maintaining</a:t>
            </a:r>
            <a:r>
              <a:rPr sz="20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integrity</a:t>
            </a:r>
            <a:r>
              <a:rPr sz="20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DFE7F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electoral</a:t>
            </a:r>
            <a:r>
              <a:rPr sz="200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process.</a:t>
            </a:r>
            <a:r>
              <a:rPr sz="20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As</a:t>
            </a:r>
            <a:r>
              <a:rPr sz="200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traditional</a:t>
            </a:r>
            <a:r>
              <a:rPr sz="20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200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DFE7FF"/>
                </a:solidFill>
                <a:latin typeface="Calibri"/>
                <a:cs typeface="Calibri"/>
              </a:rPr>
              <a:t>systems</a:t>
            </a:r>
            <a:r>
              <a:rPr sz="20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face</a:t>
            </a:r>
            <a:r>
              <a:rPr sz="200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challenges,</a:t>
            </a:r>
            <a:r>
              <a:rPr sz="2000" spc="50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online</a:t>
            </a:r>
            <a:r>
              <a:rPr sz="200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20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FE7FF"/>
                </a:solidFill>
                <a:latin typeface="Calibri"/>
                <a:cs typeface="Calibri"/>
              </a:rPr>
              <a:t>emerges</a:t>
            </a:r>
            <a:r>
              <a:rPr sz="20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as</a:t>
            </a:r>
            <a:r>
              <a:rPr sz="20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viable</a:t>
            </a:r>
            <a:r>
              <a:rPr sz="20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solution</a:t>
            </a:r>
            <a:r>
              <a:rPr sz="20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FE7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DFE7FF"/>
                </a:solidFill>
                <a:latin typeface="Calibri"/>
                <a:cs typeface="Calibri"/>
              </a:rPr>
              <a:t>digital</a:t>
            </a:r>
            <a:r>
              <a:rPr sz="2000" b="1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DFE7FF"/>
                </a:solidFill>
                <a:latin typeface="Calibri"/>
                <a:cs typeface="Calibri"/>
              </a:rPr>
              <a:t>age</a:t>
            </a:r>
            <a:r>
              <a:rPr sz="2000" spc="-20" dirty="0">
                <a:solidFill>
                  <a:srgbClr val="DFE7FF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0142" y="9184111"/>
            <a:ext cx="2165350" cy="1102995"/>
          </a:xfrm>
          <a:custGeom>
            <a:avLst/>
            <a:gdLst/>
            <a:ahLst/>
            <a:cxnLst/>
            <a:rect l="l" t="t" r="r" b="b"/>
            <a:pathLst>
              <a:path w="2165350" h="1102995">
                <a:moveTo>
                  <a:pt x="1204633" y="403799"/>
                </a:moveTo>
                <a:lnTo>
                  <a:pt x="960311" y="403799"/>
                </a:lnTo>
                <a:lnTo>
                  <a:pt x="1082472" y="0"/>
                </a:lnTo>
                <a:lnTo>
                  <a:pt x="1204633" y="403799"/>
                </a:lnTo>
                <a:close/>
              </a:path>
              <a:path w="2165350" h="1102995">
                <a:moveTo>
                  <a:pt x="1435379" y="485241"/>
                </a:moveTo>
                <a:lnTo>
                  <a:pt x="729566" y="485241"/>
                </a:lnTo>
                <a:lnTo>
                  <a:pt x="705813" y="67848"/>
                </a:lnTo>
                <a:lnTo>
                  <a:pt x="960311" y="403799"/>
                </a:lnTo>
                <a:lnTo>
                  <a:pt x="1440014" y="403799"/>
                </a:lnTo>
                <a:lnTo>
                  <a:pt x="1435379" y="485241"/>
                </a:lnTo>
                <a:close/>
              </a:path>
              <a:path w="2165350" h="1102995">
                <a:moveTo>
                  <a:pt x="1440014" y="403799"/>
                </a:moveTo>
                <a:lnTo>
                  <a:pt x="1204633" y="403799"/>
                </a:lnTo>
                <a:lnTo>
                  <a:pt x="1459132" y="67848"/>
                </a:lnTo>
                <a:lnTo>
                  <a:pt x="1440014" y="403799"/>
                </a:lnTo>
                <a:close/>
              </a:path>
              <a:path w="2165350" h="1102995">
                <a:moveTo>
                  <a:pt x="1625403" y="644712"/>
                </a:moveTo>
                <a:lnTo>
                  <a:pt x="539538" y="644712"/>
                </a:lnTo>
                <a:lnTo>
                  <a:pt x="376659" y="257891"/>
                </a:lnTo>
                <a:lnTo>
                  <a:pt x="729566" y="485241"/>
                </a:lnTo>
                <a:lnTo>
                  <a:pt x="1692553" y="485241"/>
                </a:lnTo>
                <a:lnTo>
                  <a:pt x="1625403" y="644712"/>
                </a:lnTo>
                <a:close/>
              </a:path>
              <a:path w="2165350" h="1102995">
                <a:moveTo>
                  <a:pt x="1692553" y="485241"/>
                </a:moveTo>
                <a:lnTo>
                  <a:pt x="1435379" y="485241"/>
                </a:lnTo>
                <a:lnTo>
                  <a:pt x="1788285" y="257891"/>
                </a:lnTo>
                <a:lnTo>
                  <a:pt x="1692553" y="485241"/>
                </a:lnTo>
                <a:close/>
              </a:path>
              <a:path w="2165350" h="1102995">
                <a:moveTo>
                  <a:pt x="1795113" y="1102888"/>
                </a:moveTo>
                <a:lnTo>
                  <a:pt x="369831" y="1102888"/>
                </a:lnTo>
                <a:lnTo>
                  <a:pt x="376659" y="1099444"/>
                </a:lnTo>
                <a:lnTo>
                  <a:pt x="0" y="909401"/>
                </a:lnTo>
                <a:lnTo>
                  <a:pt x="417380" y="858499"/>
                </a:lnTo>
                <a:lnTo>
                  <a:pt x="132341" y="549706"/>
                </a:lnTo>
                <a:lnTo>
                  <a:pt x="539538" y="644712"/>
                </a:lnTo>
                <a:lnTo>
                  <a:pt x="1944906" y="644712"/>
                </a:lnTo>
                <a:lnTo>
                  <a:pt x="1747564" y="858499"/>
                </a:lnTo>
                <a:lnTo>
                  <a:pt x="2164942" y="909401"/>
                </a:lnTo>
                <a:lnTo>
                  <a:pt x="1788285" y="1099444"/>
                </a:lnTo>
                <a:lnTo>
                  <a:pt x="1795113" y="1102888"/>
                </a:lnTo>
                <a:close/>
              </a:path>
              <a:path w="2165350" h="1102995">
                <a:moveTo>
                  <a:pt x="1944906" y="644712"/>
                </a:moveTo>
                <a:lnTo>
                  <a:pt x="1625403" y="644712"/>
                </a:lnTo>
                <a:lnTo>
                  <a:pt x="2032604" y="549706"/>
                </a:lnTo>
                <a:lnTo>
                  <a:pt x="1944906" y="644712"/>
                </a:lnTo>
                <a:close/>
              </a:path>
            </a:pathLst>
          </a:custGeom>
          <a:solidFill>
            <a:srgbClr val="DFE7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38849"/>
            <a:ext cx="4010040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59" y="6038849"/>
            <a:ext cx="4010040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11240" y="6038849"/>
            <a:ext cx="4010040" cy="358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4050" y="581692"/>
            <a:ext cx="911542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Need</a:t>
            </a:r>
            <a:r>
              <a:rPr spc="-229" dirty="0"/>
              <a:t> </a:t>
            </a:r>
            <a:r>
              <a:rPr dirty="0"/>
              <a:t>for</a:t>
            </a:r>
            <a:r>
              <a:rPr spc="-225" dirty="0"/>
              <a:t> </a:t>
            </a:r>
            <a:r>
              <a:rPr dirty="0"/>
              <a:t>Online</a:t>
            </a:r>
            <a:r>
              <a:rPr spc="-225" dirty="0"/>
              <a:t> </a:t>
            </a:r>
            <a:r>
              <a:rPr spc="-640" dirty="0"/>
              <a:t>V</a:t>
            </a:r>
            <a:r>
              <a:rPr spc="-65" dirty="0"/>
              <a:t>o</a:t>
            </a:r>
            <a:r>
              <a:rPr spc="-55" dirty="0"/>
              <a:t>ti</a:t>
            </a:r>
            <a:r>
              <a:rPr spc="-60" dirty="0"/>
              <a:t>n</a:t>
            </a:r>
            <a:r>
              <a:rPr spc="-55" dirty="0"/>
              <a:t>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8859" y="4196736"/>
            <a:ext cx="242506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DFE7FF"/>
                </a:solidFill>
                <a:latin typeface="Book Antiqua"/>
                <a:cs typeface="Book Antiqua"/>
              </a:rPr>
              <a:t>Long</a:t>
            </a:r>
            <a:r>
              <a:rPr sz="2800" spc="-15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Lines</a:t>
            </a:r>
            <a:endParaRPr sz="2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800" spc="-20" dirty="0">
                <a:solidFill>
                  <a:srgbClr val="DFE7FF"/>
                </a:solidFill>
                <a:latin typeface="Calibri"/>
                <a:cs typeface="Calibri"/>
              </a:rPr>
              <a:t>Traditional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8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leads</a:t>
            </a:r>
            <a:r>
              <a:rPr sz="18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DFE7FF"/>
                </a:solidFill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excessive</a:t>
            </a:r>
            <a:r>
              <a:rPr sz="1800" b="1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wait</a:t>
            </a:r>
            <a:r>
              <a:rPr sz="1800" b="1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times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4196736"/>
            <a:ext cx="2767330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Limited</a:t>
            </a:r>
            <a:r>
              <a:rPr sz="2800" spc="-12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Access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595"/>
              </a:spcBef>
            </a:pP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Many</a:t>
            </a:r>
            <a:r>
              <a:rPr sz="18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citizens</a:t>
            </a:r>
            <a:r>
              <a:rPr sz="18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face</a:t>
            </a:r>
            <a:r>
              <a:rPr sz="18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barriers</a:t>
            </a:r>
            <a:r>
              <a:rPr sz="1800" b="1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DFE7FF"/>
                </a:solidFill>
                <a:latin typeface="Calibri"/>
                <a:cs typeface="Calibri"/>
              </a:rPr>
              <a:t>to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participation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40" y="4196736"/>
            <a:ext cx="2247900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DFE7FF"/>
                </a:solidFill>
                <a:latin typeface="Book Antiqua"/>
                <a:cs typeface="Book Antiqua"/>
              </a:rPr>
              <a:t>High</a:t>
            </a:r>
            <a:r>
              <a:rPr sz="2800" spc="-15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800" spc="-20" dirty="0">
                <a:solidFill>
                  <a:srgbClr val="DFE7FF"/>
                </a:solidFill>
                <a:latin typeface="Book Antiqua"/>
                <a:cs typeface="Book Antiqua"/>
              </a:rPr>
              <a:t>Costs</a:t>
            </a:r>
            <a:endParaRPr sz="2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800" spc="-20" dirty="0">
                <a:solidFill>
                  <a:srgbClr val="DFE7FF"/>
                </a:solidFill>
                <a:latin typeface="Calibri"/>
                <a:cs typeface="Calibri"/>
              </a:rPr>
              <a:t>Traditional</a:t>
            </a:r>
            <a:r>
              <a:rPr sz="18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8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incurs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significant</a:t>
            </a:r>
            <a:r>
              <a:rPr sz="1800" b="1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expenses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38849"/>
            <a:ext cx="4010040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59" y="6038849"/>
            <a:ext cx="4010040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11240" y="6038849"/>
            <a:ext cx="4010040" cy="358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Objectives</a:t>
            </a:r>
            <a:r>
              <a:rPr spc="-254" dirty="0"/>
              <a:t> </a:t>
            </a:r>
            <a:r>
              <a:rPr spc="90" dirty="0"/>
              <a:t>of</a:t>
            </a:r>
            <a:r>
              <a:rPr spc="-250" dirty="0"/>
              <a:t> </a:t>
            </a:r>
            <a:r>
              <a:rPr dirty="0"/>
              <a:t>Online</a:t>
            </a:r>
            <a:r>
              <a:rPr spc="-254" dirty="0"/>
              <a:t> </a:t>
            </a:r>
            <a:r>
              <a:rPr spc="-635" dirty="0"/>
              <a:t>V</a:t>
            </a:r>
            <a:r>
              <a:rPr spc="-60" dirty="0"/>
              <a:t>o</a:t>
            </a:r>
            <a:r>
              <a:rPr spc="-50" dirty="0"/>
              <a:t>ti</a:t>
            </a:r>
            <a:r>
              <a:rPr spc="-55" dirty="0"/>
              <a:t>n</a:t>
            </a:r>
            <a:r>
              <a:rPr spc="-50" dirty="0"/>
              <a:t>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8859" y="4196736"/>
            <a:ext cx="2552700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Secure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595"/>
              </a:spcBef>
            </a:pP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Ensures</a:t>
            </a:r>
            <a:r>
              <a:rPr sz="1800" b="1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voter</a:t>
            </a:r>
            <a:r>
              <a:rPr sz="1800" b="1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identity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verification</a:t>
            </a:r>
            <a:r>
              <a:rPr sz="1800" b="1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and</a:t>
            </a:r>
            <a:r>
              <a:rPr sz="1800" b="1" spc="-2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protection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4196736"/>
            <a:ext cx="2667000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Transparent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595"/>
              </a:spcBef>
            </a:pP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Provides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 real-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time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access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DFE7FF"/>
                </a:solidFill>
                <a:latin typeface="Calibri"/>
                <a:cs typeface="Calibri"/>
              </a:rPr>
              <a:t>to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800" b="1" spc="-2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40" y="4196736"/>
            <a:ext cx="233616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Convenient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595"/>
              </a:spcBef>
            </a:pP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Offers</a:t>
            </a:r>
            <a:r>
              <a:rPr sz="1800" b="1" spc="-4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easy</a:t>
            </a:r>
            <a:r>
              <a:rPr sz="1800" b="1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access</a:t>
            </a:r>
            <a:r>
              <a:rPr sz="1800" b="1" spc="-4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for</a:t>
            </a:r>
            <a:r>
              <a:rPr sz="1800" b="1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DFE7FF"/>
                </a:solidFill>
                <a:latin typeface="Calibri"/>
                <a:cs typeface="Calibri"/>
              </a:rPr>
              <a:t>all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voters</a:t>
            </a:r>
            <a:r>
              <a:rPr sz="1800" b="1" spc="-7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anywhere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38849"/>
            <a:ext cx="4010040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59" y="6038849"/>
            <a:ext cx="4010040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11240" y="6038849"/>
            <a:ext cx="4010040" cy="358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System</a:t>
            </a:r>
            <a:r>
              <a:rPr spc="-40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8859" y="4205892"/>
            <a:ext cx="2884170" cy="1216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spc="-60" dirty="0">
                <a:solidFill>
                  <a:srgbClr val="DFE7FF"/>
                </a:solidFill>
                <a:latin typeface="Book Antiqua"/>
                <a:cs typeface="Book Antiqua"/>
              </a:rPr>
              <a:t>Voter</a:t>
            </a:r>
            <a:r>
              <a:rPr sz="2450" spc="-7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450" spc="-10" dirty="0">
                <a:solidFill>
                  <a:srgbClr val="DFE7FF"/>
                </a:solidFill>
                <a:latin typeface="Book Antiqua"/>
                <a:cs typeface="Book Antiqua"/>
              </a:rPr>
              <a:t>Authentication</a:t>
            </a:r>
            <a:endParaRPr sz="2450">
              <a:latin typeface="Book Antiqua"/>
              <a:cs typeface="Book Antiqua"/>
            </a:endParaRPr>
          </a:p>
          <a:p>
            <a:pPr marL="12700" marR="516255">
              <a:lnSpc>
                <a:spcPct val="114599"/>
              </a:lnSpc>
              <a:spcBef>
                <a:spcPts val="1475"/>
              </a:spcBef>
            </a:pP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Users</a:t>
            </a:r>
            <a:r>
              <a:rPr sz="1800" spc="-4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verify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their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identity before</a:t>
            </a:r>
            <a:r>
              <a:rPr sz="18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voting.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4205892"/>
            <a:ext cx="2547620" cy="1216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dirty="0">
                <a:solidFill>
                  <a:srgbClr val="DFE7FF"/>
                </a:solidFill>
                <a:latin typeface="Book Antiqua"/>
                <a:cs typeface="Book Antiqua"/>
              </a:rPr>
              <a:t>Ballot</a:t>
            </a:r>
            <a:r>
              <a:rPr sz="2450" spc="9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450" spc="-10" dirty="0">
                <a:solidFill>
                  <a:srgbClr val="DFE7FF"/>
                </a:solidFill>
                <a:latin typeface="Book Antiqua"/>
                <a:cs typeface="Book Antiqua"/>
              </a:rPr>
              <a:t>Casting</a:t>
            </a:r>
            <a:endParaRPr sz="245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475"/>
              </a:spcBef>
            </a:pPr>
            <a:r>
              <a:rPr sz="1800" spc="-20" dirty="0">
                <a:solidFill>
                  <a:srgbClr val="DFE7FF"/>
                </a:solidFill>
                <a:latin typeface="Calibri"/>
                <a:cs typeface="Calibri"/>
              </a:rPr>
              <a:t>Voters</a:t>
            </a:r>
            <a:r>
              <a:rPr sz="18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submit</a:t>
            </a:r>
            <a:r>
              <a:rPr sz="1800" spc="-4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their</a:t>
            </a:r>
            <a:r>
              <a:rPr sz="18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choices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securely</a:t>
            </a:r>
            <a:r>
              <a:rPr sz="1800" spc="-9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online.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40" y="4205892"/>
            <a:ext cx="2780030" cy="1216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spc="-10" dirty="0">
                <a:solidFill>
                  <a:srgbClr val="DFE7FF"/>
                </a:solidFill>
                <a:latin typeface="Book Antiqua"/>
                <a:cs typeface="Book Antiqua"/>
              </a:rPr>
              <a:t>Tallying</a:t>
            </a:r>
            <a:endParaRPr sz="245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475"/>
              </a:spcBef>
            </a:pP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Votes</a:t>
            </a:r>
            <a:r>
              <a:rPr sz="18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are</a:t>
            </a:r>
            <a:r>
              <a:rPr sz="18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counted</a:t>
            </a:r>
            <a:r>
              <a:rPr sz="18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results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are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verified.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55" rIns="0" bIns="0" rtlCol="0">
            <a:spAutoFit/>
          </a:bodyPr>
          <a:lstStyle/>
          <a:p>
            <a:pPr marL="267335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Key</a:t>
            </a:r>
            <a:r>
              <a:rPr spc="-155" dirty="0"/>
              <a:t> </a:t>
            </a:r>
            <a:r>
              <a:rPr spc="-10" dirty="0"/>
              <a:t>Features</a:t>
            </a:r>
            <a:r>
              <a:rPr spc="-290" dirty="0"/>
              <a:t> </a:t>
            </a:r>
            <a:r>
              <a:rPr spc="90" dirty="0"/>
              <a:t>of</a:t>
            </a:r>
            <a:r>
              <a:rPr spc="-220" dirty="0"/>
              <a:t> </a:t>
            </a:r>
            <a:r>
              <a:rPr dirty="0"/>
              <a:t>Online</a:t>
            </a:r>
            <a:r>
              <a:rPr spc="-220" dirty="0"/>
              <a:t> </a:t>
            </a:r>
            <a:r>
              <a:rPr spc="-620" dirty="0"/>
              <a:t>V</a:t>
            </a:r>
            <a:r>
              <a:rPr spc="-45" dirty="0"/>
              <a:t>o</a:t>
            </a:r>
            <a:r>
              <a:rPr spc="-35" dirty="0"/>
              <a:t>ti</a:t>
            </a:r>
            <a:r>
              <a:rPr spc="-40" dirty="0"/>
              <a:t>n</a:t>
            </a:r>
            <a:r>
              <a:rPr spc="-35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050" y="3278274"/>
            <a:ext cx="3147060" cy="111950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600" dirty="0">
                <a:solidFill>
                  <a:srgbClr val="DFE7FF"/>
                </a:solidFill>
                <a:latin typeface="Book Antiqua"/>
                <a:cs typeface="Book Antiqua"/>
              </a:rPr>
              <a:t>User</a:t>
            </a:r>
            <a:r>
              <a:rPr sz="2600" spc="-4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Authentication</a:t>
            </a:r>
            <a:endParaRPr sz="2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Ensures only authorized</a:t>
            </a:r>
            <a:r>
              <a:rPr sz="1950" spc="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DFE7FF"/>
                </a:solidFill>
                <a:latin typeface="Calibri"/>
                <a:cs typeface="Calibri"/>
              </a:rPr>
              <a:t>voters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can</a:t>
            </a:r>
            <a:r>
              <a:rPr sz="1950" spc="-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DFE7FF"/>
                </a:solidFill>
                <a:latin typeface="Calibri"/>
                <a:cs typeface="Calibri"/>
              </a:rPr>
              <a:t>access.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3700" y="3202489"/>
            <a:ext cx="3154680" cy="125222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600" spc="-80" dirty="0">
                <a:solidFill>
                  <a:srgbClr val="DFE7FF"/>
                </a:solidFill>
                <a:latin typeface="Book Antiqua"/>
                <a:cs typeface="Book Antiqua"/>
              </a:rPr>
              <a:t>Audit</a:t>
            </a:r>
            <a:r>
              <a:rPr sz="2600" spc="-7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Trails</a:t>
            </a:r>
            <a:endParaRPr sz="2600" dirty="0">
              <a:latin typeface="Book Antiqua"/>
              <a:cs typeface="Book Antiqua"/>
            </a:endParaRPr>
          </a:p>
          <a:p>
            <a:pPr marL="12700" marR="5080">
              <a:lnSpc>
                <a:spcPct val="115399"/>
              </a:lnSpc>
              <a:spcBef>
                <a:spcPts val="285"/>
              </a:spcBef>
            </a:pP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Maintains</a:t>
            </a:r>
            <a:r>
              <a:rPr sz="1950" spc="-2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records</a:t>
            </a:r>
            <a:r>
              <a:rPr sz="1950" spc="-25" dirty="0">
                <a:solidFill>
                  <a:srgbClr val="DFE7FF"/>
                </a:solidFill>
                <a:latin typeface="Calibri"/>
                <a:cs typeface="Calibri"/>
              </a:rPr>
              <a:t> for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accountability</a:t>
            </a:r>
            <a:r>
              <a:rPr sz="1950" spc="-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and </a:t>
            </a:r>
            <a:r>
              <a:rPr sz="1950" spc="-10" dirty="0">
                <a:solidFill>
                  <a:srgbClr val="DFE7FF"/>
                </a:solidFill>
                <a:latin typeface="Calibri"/>
                <a:cs typeface="Calibri"/>
              </a:rPr>
              <a:t>verification.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8859" y="3278274"/>
            <a:ext cx="3348990" cy="111950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600" dirty="0">
                <a:solidFill>
                  <a:srgbClr val="DFE7FF"/>
                </a:solidFill>
                <a:latin typeface="Book Antiqua"/>
                <a:cs typeface="Book Antiqua"/>
              </a:rPr>
              <a:t>Real-Time</a:t>
            </a:r>
            <a:r>
              <a:rPr sz="2600" spc="17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Results</a:t>
            </a:r>
            <a:endParaRPr sz="2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Provides</a:t>
            </a:r>
            <a:r>
              <a:rPr sz="195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immediate</a:t>
            </a:r>
            <a:r>
              <a:rPr sz="195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feedback</a:t>
            </a:r>
            <a:r>
              <a:rPr sz="1950" spc="-35" dirty="0">
                <a:solidFill>
                  <a:srgbClr val="DFE7FF"/>
                </a:solidFill>
                <a:latin typeface="Calibri"/>
                <a:cs typeface="Calibri"/>
              </a:rPr>
              <a:t> on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950" spc="1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DFE7FF"/>
                </a:solidFill>
                <a:latin typeface="Calibri"/>
                <a:cs typeface="Calibri"/>
              </a:rPr>
              <a:t>outcomes.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4922519"/>
            <a:ext cx="4010039" cy="46977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75" y="4922519"/>
            <a:ext cx="4010024" cy="46977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750" y="4922519"/>
            <a:ext cx="4010040" cy="46977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11553" y="4922519"/>
            <a:ext cx="4010030" cy="469772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598844" y="3202489"/>
            <a:ext cx="3488690" cy="125222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600" dirty="0">
                <a:solidFill>
                  <a:srgbClr val="DFE7FF"/>
                </a:solidFill>
                <a:latin typeface="Book Antiqua"/>
                <a:cs typeface="Book Antiqua"/>
              </a:rPr>
              <a:t>User-</a:t>
            </a: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Friendly</a:t>
            </a:r>
            <a:r>
              <a:rPr sz="260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Interface</a:t>
            </a:r>
            <a:endParaRPr sz="2600">
              <a:latin typeface="Book Antiqua"/>
              <a:cs typeface="Book Antiqua"/>
            </a:endParaRPr>
          </a:p>
          <a:p>
            <a:pPr marL="12700" marR="223520">
              <a:lnSpc>
                <a:spcPct val="115399"/>
              </a:lnSpc>
              <a:spcBef>
                <a:spcPts val="285"/>
              </a:spcBef>
            </a:pP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Simplifies</a:t>
            </a:r>
            <a:r>
              <a:rPr sz="1950" spc="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the</a:t>
            </a:r>
            <a:r>
              <a:rPr sz="1950" spc="1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950" spc="1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DFE7FF"/>
                </a:solidFill>
                <a:latin typeface="Calibri"/>
                <a:cs typeface="Calibri"/>
              </a:rPr>
              <a:t>process</a:t>
            </a:r>
            <a:r>
              <a:rPr sz="1950" spc="1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950" spc="-25" dirty="0">
                <a:solidFill>
                  <a:srgbClr val="DFE7FF"/>
                </a:solidFill>
                <a:latin typeface="Calibri"/>
                <a:cs typeface="Calibri"/>
              </a:rPr>
              <a:t>for </a:t>
            </a:r>
            <a:r>
              <a:rPr sz="1950" spc="-10" dirty="0">
                <a:solidFill>
                  <a:srgbClr val="DFE7FF"/>
                </a:solidFill>
                <a:latin typeface="Calibri"/>
                <a:cs typeface="Calibri"/>
              </a:rPr>
              <a:t>everyone.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38849"/>
            <a:ext cx="4010040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59" y="6038849"/>
            <a:ext cx="4010040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11240" y="6038849"/>
            <a:ext cx="4010040" cy="358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90" dirty="0"/>
              <a:t>T</a:t>
            </a:r>
            <a:r>
              <a:rPr dirty="0"/>
              <a:t>e</a:t>
            </a:r>
            <a:r>
              <a:rPr spc="-80" dirty="0"/>
              <a:t>c</a:t>
            </a:r>
            <a:r>
              <a:rPr spc="5" dirty="0"/>
              <a:t>hn</a:t>
            </a:r>
            <a:r>
              <a:rPr dirty="0"/>
              <a:t>o</a:t>
            </a:r>
            <a:r>
              <a:rPr spc="10" dirty="0"/>
              <a:t>l</a:t>
            </a:r>
            <a:r>
              <a:rPr dirty="0"/>
              <a:t>og</a:t>
            </a:r>
            <a:r>
              <a:rPr spc="10" dirty="0"/>
              <a:t>i</a:t>
            </a:r>
            <a:r>
              <a:rPr dirty="0"/>
              <a:t>e</a:t>
            </a:r>
            <a:r>
              <a:rPr spc="10"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8859" y="4196736"/>
            <a:ext cx="285940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DFE7FF"/>
                </a:solidFill>
                <a:latin typeface="Book Antiqua"/>
                <a:cs typeface="Book Antiqua"/>
              </a:rPr>
              <a:t>Web</a:t>
            </a:r>
            <a:r>
              <a:rPr sz="2800" spc="-3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Technologies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595"/>
              </a:spcBef>
            </a:pP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Essential</a:t>
            </a:r>
            <a:r>
              <a:rPr sz="18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developing</a:t>
            </a:r>
            <a:r>
              <a:rPr sz="18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online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80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platforms.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4196736"/>
            <a:ext cx="2802890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Databases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595"/>
              </a:spcBef>
            </a:pP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Store</a:t>
            </a:r>
            <a:r>
              <a:rPr sz="18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and</a:t>
            </a:r>
            <a:r>
              <a:rPr sz="18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manage</a:t>
            </a:r>
            <a:r>
              <a:rPr sz="180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80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DFE7FF"/>
                </a:solidFill>
                <a:latin typeface="Calibri"/>
                <a:cs typeface="Calibri"/>
              </a:rPr>
              <a:t>data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securely.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40" y="4196736"/>
            <a:ext cx="2410460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Blockchain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595"/>
              </a:spcBef>
            </a:pP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Ensures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transparency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DFE7FF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integrity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votes.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38849"/>
            <a:ext cx="4010040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59" y="6038849"/>
            <a:ext cx="4010040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11240" y="6038849"/>
            <a:ext cx="4010040" cy="358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Security</a:t>
            </a:r>
            <a:r>
              <a:rPr spc="-365" dirty="0"/>
              <a:t> </a:t>
            </a:r>
            <a:r>
              <a:rPr spc="-50" dirty="0"/>
              <a:t>Measures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8859" y="4210014"/>
            <a:ext cx="2863215" cy="1105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30" dirty="0">
                <a:solidFill>
                  <a:srgbClr val="DFE7FF"/>
                </a:solidFill>
                <a:latin typeface="Book Antiqua"/>
                <a:cs typeface="Book Antiqua"/>
              </a:rPr>
              <a:t>Authentication</a:t>
            </a:r>
            <a:r>
              <a:rPr sz="2100" spc="-10" dirty="0">
                <a:solidFill>
                  <a:srgbClr val="DFE7FF"/>
                </a:solidFill>
                <a:latin typeface="Book Antiqua"/>
                <a:cs typeface="Book Antiqua"/>
              </a:rPr>
              <a:t> Methods</a:t>
            </a:r>
            <a:endParaRPr sz="2100">
              <a:latin typeface="Book Antiqua"/>
              <a:cs typeface="Book Antiqua"/>
            </a:endParaRPr>
          </a:p>
          <a:p>
            <a:pPr marL="12700" marR="448945">
              <a:lnSpc>
                <a:spcPct val="113599"/>
              </a:lnSpc>
              <a:spcBef>
                <a:spcPts val="1490"/>
              </a:spcBef>
            </a:pPr>
            <a:r>
              <a:rPr sz="1650" b="1" spc="-10" dirty="0">
                <a:solidFill>
                  <a:srgbClr val="DFE7FF"/>
                </a:solidFill>
                <a:latin typeface="Calibri"/>
                <a:cs typeface="Calibri"/>
              </a:rPr>
              <a:t>Biometric</a:t>
            </a:r>
            <a:r>
              <a:rPr sz="1650" b="1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DFE7FF"/>
                </a:solidFill>
                <a:latin typeface="Calibri"/>
                <a:cs typeface="Calibri"/>
              </a:rPr>
              <a:t>data</a:t>
            </a:r>
            <a:r>
              <a:rPr sz="1650" b="1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ensures</a:t>
            </a:r>
            <a:r>
              <a:rPr sz="1650" spc="-4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DFE7FF"/>
                </a:solidFill>
                <a:latin typeface="Calibri"/>
                <a:cs typeface="Calibri"/>
              </a:rPr>
              <a:t>user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identity</a:t>
            </a:r>
            <a:r>
              <a:rPr sz="1650" spc="-7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verification.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4210014"/>
            <a:ext cx="2887345" cy="1105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10" dirty="0">
                <a:solidFill>
                  <a:srgbClr val="DFE7FF"/>
                </a:solidFill>
                <a:latin typeface="Book Antiqua"/>
                <a:cs typeface="Book Antiqua"/>
              </a:rPr>
              <a:t>Encryption</a:t>
            </a:r>
            <a:r>
              <a:rPr sz="2100" spc="-4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100" spc="-10" dirty="0">
                <a:solidFill>
                  <a:srgbClr val="DFE7FF"/>
                </a:solidFill>
                <a:latin typeface="Book Antiqua"/>
                <a:cs typeface="Book Antiqua"/>
              </a:rPr>
              <a:t>Standards</a:t>
            </a:r>
            <a:endParaRPr sz="2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Data</a:t>
            </a:r>
            <a:r>
              <a:rPr sz="165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is</a:t>
            </a:r>
            <a:r>
              <a:rPr sz="165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protected</a:t>
            </a:r>
            <a:r>
              <a:rPr sz="165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through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650" b="1" spc="-10" dirty="0">
                <a:solidFill>
                  <a:srgbClr val="DFE7FF"/>
                </a:solidFill>
                <a:latin typeface="Calibri"/>
                <a:cs typeface="Calibri"/>
              </a:rPr>
              <a:t>advanced</a:t>
            </a:r>
            <a:r>
              <a:rPr sz="1650" b="1" spc="-2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DFE7FF"/>
                </a:solidFill>
                <a:latin typeface="Calibri"/>
                <a:cs typeface="Calibri"/>
              </a:rPr>
              <a:t>encryption</a:t>
            </a:r>
            <a:r>
              <a:rPr sz="1650" b="1" spc="-2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DFE7FF"/>
                </a:solidFill>
                <a:latin typeface="Calibri"/>
                <a:cs typeface="Calibri"/>
              </a:rPr>
              <a:t>techniques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40" y="4210014"/>
            <a:ext cx="2472690" cy="1105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dirty="0">
                <a:solidFill>
                  <a:srgbClr val="DFE7FF"/>
                </a:solidFill>
                <a:latin typeface="Book Antiqua"/>
                <a:cs typeface="Book Antiqua"/>
              </a:rPr>
              <a:t>Data</a:t>
            </a:r>
            <a:r>
              <a:rPr sz="2100" spc="-9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100" spc="-40" dirty="0">
                <a:solidFill>
                  <a:srgbClr val="DFE7FF"/>
                </a:solidFill>
                <a:latin typeface="Book Antiqua"/>
                <a:cs typeface="Book Antiqua"/>
              </a:rPr>
              <a:t>Privacy</a:t>
            </a:r>
            <a:r>
              <a:rPr sz="2100" spc="-9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100" spc="-10" dirty="0">
                <a:solidFill>
                  <a:srgbClr val="DFE7FF"/>
                </a:solidFill>
                <a:latin typeface="Book Antiqua"/>
                <a:cs typeface="Book Antiqua"/>
              </a:rPr>
              <a:t>Policies</a:t>
            </a:r>
            <a:endParaRPr sz="2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Compliance</a:t>
            </a:r>
            <a:r>
              <a:rPr sz="1650" spc="-2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ensures</a:t>
            </a:r>
            <a:r>
              <a:rPr sz="1650" spc="-2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users'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650" b="1" spc="-10" dirty="0">
                <a:solidFill>
                  <a:srgbClr val="DFE7FF"/>
                </a:solidFill>
                <a:latin typeface="Calibri"/>
                <a:cs typeface="Calibri"/>
              </a:rPr>
              <a:t>personal</a:t>
            </a:r>
            <a:r>
              <a:rPr sz="1650" b="1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DFE7FF"/>
                </a:solidFill>
                <a:latin typeface="Calibri"/>
                <a:cs typeface="Calibri"/>
              </a:rPr>
              <a:t>information</a:t>
            </a:r>
            <a:r>
              <a:rPr sz="1650" b="1" spc="-4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is</a:t>
            </a:r>
            <a:r>
              <a:rPr sz="1650" spc="-4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DFE7FF"/>
                </a:solidFill>
                <a:latin typeface="Calibri"/>
                <a:cs typeface="Calibri"/>
              </a:rPr>
              <a:t>safe.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38849"/>
            <a:ext cx="4010040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59" y="6038849"/>
            <a:ext cx="4010040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11240" y="6038849"/>
            <a:ext cx="4010040" cy="358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Advantages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8859" y="4196736"/>
            <a:ext cx="2282825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Accessibility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3599"/>
              </a:lnSpc>
              <a:spcBef>
                <a:spcPts val="1580"/>
              </a:spcBef>
            </a:pP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Online</a:t>
            </a:r>
            <a:r>
              <a:rPr sz="165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voting</a:t>
            </a:r>
            <a:r>
              <a:rPr sz="165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increases participation</a:t>
            </a:r>
            <a:r>
              <a:rPr sz="165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for</a:t>
            </a:r>
            <a:r>
              <a:rPr sz="165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everyone.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4196736"/>
            <a:ext cx="2597150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Speed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3599"/>
              </a:lnSpc>
              <a:spcBef>
                <a:spcPts val="1580"/>
              </a:spcBef>
            </a:pP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Online</a:t>
            </a:r>
            <a:r>
              <a:rPr sz="1650" spc="-5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DFE7FF"/>
                </a:solidFill>
                <a:latin typeface="Calibri"/>
                <a:cs typeface="Calibri"/>
              </a:rPr>
              <a:t>systems</a:t>
            </a:r>
            <a:r>
              <a:rPr sz="165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reduce</a:t>
            </a:r>
            <a:r>
              <a:rPr sz="1650" spc="-5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waiting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times</a:t>
            </a:r>
            <a:r>
              <a:rPr sz="1650" spc="-6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significantly.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40" y="4196736"/>
            <a:ext cx="2883535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DFE7FF"/>
                </a:solidFill>
                <a:latin typeface="Book Antiqua"/>
                <a:cs typeface="Book Antiqua"/>
              </a:rPr>
              <a:t>Cost</a:t>
            </a:r>
            <a:r>
              <a:rPr sz="2800" spc="-12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Reduction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3599"/>
              </a:lnSpc>
              <a:spcBef>
                <a:spcPts val="1580"/>
              </a:spcBef>
            </a:pP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Lower</a:t>
            </a:r>
            <a:r>
              <a:rPr sz="165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overhead</a:t>
            </a:r>
            <a:r>
              <a:rPr sz="1650" spc="-6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expenses compared</a:t>
            </a:r>
            <a:r>
              <a:rPr sz="1650" spc="-4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DFE7FF"/>
                </a:solidFill>
                <a:latin typeface="Calibri"/>
                <a:cs typeface="Calibri"/>
              </a:rPr>
              <a:t>to</a:t>
            </a:r>
            <a:r>
              <a:rPr sz="165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traditional</a:t>
            </a:r>
            <a:r>
              <a:rPr sz="165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DFE7FF"/>
                </a:solidFill>
                <a:latin typeface="Calibri"/>
                <a:cs typeface="Calibri"/>
              </a:rPr>
              <a:t>methods.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50" y="581692"/>
            <a:ext cx="4573905" cy="50546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ts val="7800"/>
              </a:lnSpc>
              <a:spcBef>
                <a:spcPts val="800"/>
              </a:spcBef>
            </a:pPr>
            <a:r>
              <a:rPr sz="7000" spc="-10" dirty="0">
                <a:solidFill>
                  <a:srgbClr val="DFE7FF"/>
                </a:solidFill>
                <a:latin typeface="Book Antiqua"/>
                <a:cs typeface="Book Antiqua"/>
              </a:rPr>
              <a:t>Limitations </a:t>
            </a:r>
            <a:r>
              <a:rPr sz="7000" spc="90" dirty="0">
                <a:solidFill>
                  <a:srgbClr val="DFE7FF"/>
                </a:solidFill>
                <a:latin typeface="Book Antiqua"/>
                <a:cs typeface="Book Antiqua"/>
              </a:rPr>
              <a:t>of</a:t>
            </a:r>
            <a:r>
              <a:rPr sz="7000" spc="-10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7000" spc="-10" dirty="0">
                <a:solidFill>
                  <a:srgbClr val="DFE7FF"/>
                </a:solidFill>
                <a:latin typeface="Book Antiqua"/>
                <a:cs typeface="Book Antiqua"/>
              </a:rPr>
              <a:t>Online </a:t>
            </a:r>
            <a:r>
              <a:rPr sz="7000" spc="-620" dirty="0">
                <a:solidFill>
                  <a:srgbClr val="DFE7FF"/>
                </a:solidFill>
                <a:latin typeface="Book Antiqua"/>
                <a:cs typeface="Book Antiqua"/>
              </a:rPr>
              <a:t>V</a:t>
            </a:r>
            <a:r>
              <a:rPr sz="7000" spc="-45" dirty="0">
                <a:solidFill>
                  <a:srgbClr val="DFE7FF"/>
                </a:solidFill>
                <a:latin typeface="Book Antiqua"/>
                <a:cs typeface="Book Antiqua"/>
              </a:rPr>
              <a:t>o</a:t>
            </a:r>
            <a:r>
              <a:rPr sz="7000" spc="-35" dirty="0">
                <a:solidFill>
                  <a:srgbClr val="DFE7FF"/>
                </a:solidFill>
                <a:latin typeface="Book Antiqua"/>
                <a:cs typeface="Book Antiqua"/>
              </a:rPr>
              <a:t>ti</a:t>
            </a:r>
            <a:r>
              <a:rPr sz="7000" spc="-40" dirty="0">
                <a:solidFill>
                  <a:srgbClr val="DFE7FF"/>
                </a:solidFill>
                <a:latin typeface="Book Antiqua"/>
                <a:cs typeface="Book Antiqua"/>
              </a:rPr>
              <a:t>n</a:t>
            </a:r>
            <a:r>
              <a:rPr sz="7000" spc="-45" dirty="0">
                <a:solidFill>
                  <a:srgbClr val="DFE7FF"/>
                </a:solidFill>
                <a:latin typeface="Book Antiqua"/>
                <a:cs typeface="Book Antiqua"/>
              </a:rPr>
              <a:t>g</a:t>
            </a:r>
            <a:r>
              <a:rPr sz="7000" spc="-35" dirty="0">
                <a:solidFill>
                  <a:srgbClr val="DFE7FF"/>
                </a:solidFill>
                <a:latin typeface="Book Antiqua"/>
                <a:cs typeface="Book Antiqua"/>
              </a:rPr>
              <a:t>:</a:t>
            </a:r>
            <a:r>
              <a:rPr sz="7000" spc="-29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7000" spc="130" dirty="0">
                <a:solidFill>
                  <a:srgbClr val="DFE7FF"/>
                </a:solidFill>
                <a:latin typeface="Book Antiqua"/>
                <a:cs typeface="Book Antiqua"/>
              </a:rPr>
              <a:t>The </a:t>
            </a:r>
            <a:r>
              <a:rPr sz="7000" spc="-10" dirty="0">
                <a:solidFill>
                  <a:srgbClr val="DFE7FF"/>
                </a:solidFill>
                <a:latin typeface="Book Antiqua"/>
                <a:cs typeface="Book Antiqua"/>
              </a:rPr>
              <a:t>Digital Divide</a:t>
            </a:r>
            <a:endParaRPr sz="70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40609" y="7778136"/>
            <a:ext cx="4769485" cy="1237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DFE7FF"/>
                </a:solidFill>
                <a:latin typeface="Book Antiqua"/>
                <a:cs typeface="Book Antiqua"/>
              </a:rPr>
              <a:t>Digital</a:t>
            </a:r>
            <a:r>
              <a:rPr sz="2800" spc="-14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800" spc="-10" dirty="0">
                <a:solidFill>
                  <a:srgbClr val="DFE7FF"/>
                </a:solidFill>
                <a:latin typeface="Book Antiqua"/>
                <a:cs typeface="Book Antiqua"/>
              </a:rPr>
              <a:t>Access</a:t>
            </a:r>
            <a:endParaRPr sz="2800">
              <a:latin typeface="Book Antiqua"/>
              <a:cs typeface="Book Antiqua"/>
            </a:endParaRPr>
          </a:p>
          <a:p>
            <a:pPr marL="12700" marR="5080">
              <a:lnSpc>
                <a:spcPct val="114599"/>
              </a:lnSpc>
              <a:spcBef>
                <a:spcPts val="1235"/>
              </a:spcBef>
            </a:pP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Many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rural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communities</a:t>
            </a:r>
            <a:r>
              <a:rPr sz="1800" spc="-3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DFE7FF"/>
                </a:solidFill>
                <a:latin typeface="Calibri"/>
                <a:cs typeface="Calibri"/>
              </a:rPr>
              <a:t>face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E7FF"/>
                </a:solidFill>
                <a:latin typeface="Calibri"/>
                <a:cs typeface="Calibri"/>
              </a:rPr>
              <a:t>significant</a:t>
            </a:r>
            <a:r>
              <a:rPr sz="1800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barriers</a:t>
            </a:r>
            <a:r>
              <a:rPr sz="1800" b="1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DFE7FF"/>
                </a:solidFill>
                <a:latin typeface="Calibri"/>
                <a:cs typeface="Calibri"/>
              </a:rPr>
              <a:t>to </a:t>
            </a:r>
            <a:r>
              <a:rPr sz="1800" b="1" dirty="0">
                <a:solidFill>
                  <a:srgbClr val="DFE7FF"/>
                </a:solidFill>
                <a:latin typeface="Calibri"/>
                <a:cs typeface="Calibri"/>
              </a:rPr>
              <a:t>technology</a:t>
            </a:r>
            <a:r>
              <a:rPr sz="1800" b="1" spc="-3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FE7FF"/>
                </a:solidFill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142" y="9184111"/>
            <a:ext cx="2165350" cy="1102995"/>
          </a:xfrm>
          <a:custGeom>
            <a:avLst/>
            <a:gdLst/>
            <a:ahLst/>
            <a:cxnLst/>
            <a:rect l="l" t="t" r="r" b="b"/>
            <a:pathLst>
              <a:path w="2165350" h="1102995">
                <a:moveTo>
                  <a:pt x="1204633" y="403799"/>
                </a:moveTo>
                <a:lnTo>
                  <a:pt x="960311" y="403799"/>
                </a:lnTo>
                <a:lnTo>
                  <a:pt x="1082472" y="0"/>
                </a:lnTo>
                <a:lnTo>
                  <a:pt x="1204633" y="403799"/>
                </a:lnTo>
                <a:close/>
              </a:path>
              <a:path w="2165350" h="1102995">
                <a:moveTo>
                  <a:pt x="1435379" y="485241"/>
                </a:moveTo>
                <a:lnTo>
                  <a:pt x="729566" y="485241"/>
                </a:lnTo>
                <a:lnTo>
                  <a:pt x="705813" y="67848"/>
                </a:lnTo>
                <a:lnTo>
                  <a:pt x="960311" y="403799"/>
                </a:lnTo>
                <a:lnTo>
                  <a:pt x="1440014" y="403799"/>
                </a:lnTo>
                <a:lnTo>
                  <a:pt x="1435379" y="485241"/>
                </a:lnTo>
                <a:close/>
              </a:path>
              <a:path w="2165350" h="1102995">
                <a:moveTo>
                  <a:pt x="1440014" y="403799"/>
                </a:moveTo>
                <a:lnTo>
                  <a:pt x="1204633" y="403799"/>
                </a:lnTo>
                <a:lnTo>
                  <a:pt x="1459132" y="67848"/>
                </a:lnTo>
                <a:lnTo>
                  <a:pt x="1440014" y="403799"/>
                </a:lnTo>
                <a:close/>
              </a:path>
              <a:path w="2165350" h="1102995">
                <a:moveTo>
                  <a:pt x="1625403" y="644712"/>
                </a:moveTo>
                <a:lnTo>
                  <a:pt x="539538" y="644712"/>
                </a:lnTo>
                <a:lnTo>
                  <a:pt x="376659" y="257891"/>
                </a:lnTo>
                <a:lnTo>
                  <a:pt x="729566" y="485241"/>
                </a:lnTo>
                <a:lnTo>
                  <a:pt x="1692553" y="485241"/>
                </a:lnTo>
                <a:lnTo>
                  <a:pt x="1625403" y="644712"/>
                </a:lnTo>
                <a:close/>
              </a:path>
              <a:path w="2165350" h="1102995">
                <a:moveTo>
                  <a:pt x="1692553" y="485241"/>
                </a:moveTo>
                <a:lnTo>
                  <a:pt x="1435379" y="485241"/>
                </a:lnTo>
                <a:lnTo>
                  <a:pt x="1788285" y="257891"/>
                </a:lnTo>
                <a:lnTo>
                  <a:pt x="1692553" y="485241"/>
                </a:lnTo>
                <a:close/>
              </a:path>
              <a:path w="2165350" h="1102995">
                <a:moveTo>
                  <a:pt x="1795113" y="1102888"/>
                </a:moveTo>
                <a:lnTo>
                  <a:pt x="369831" y="1102888"/>
                </a:lnTo>
                <a:lnTo>
                  <a:pt x="376659" y="1099444"/>
                </a:lnTo>
                <a:lnTo>
                  <a:pt x="0" y="909401"/>
                </a:lnTo>
                <a:lnTo>
                  <a:pt x="417380" y="858499"/>
                </a:lnTo>
                <a:lnTo>
                  <a:pt x="132341" y="549706"/>
                </a:lnTo>
                <a:lnTo>
                  <a:pt x="539538" y="644712"/>
                </a:lnTo>
                <a:lnTo>
                  <a:pt x="1944906" y="644712"/>
                </a:lnTo>
                <a:lnTo>
                  <a:pt x="1747564" y="858499"/>
                </a:lnTo>
                <a:lnTo>
                  <a:pt x="2164942" y="909401"/>
                </a:lnTo>
                <a:lnTo>
                  <a:pt x="1788285" y="1099444"/>
                </a:lnTo>
                <a:lnTo>
                  <a:pt x="1795113" y="1102888"/>
                </a:lnTo>
                <a:close/>
              </a:path>
              <a:path w="2165350" h="1102995">
                <a:moveTo>
                  <a:pt x="1944906" y="644712"/>
                </a:moveTo>
                <a:lnTo>
                  <a:pt x="1625403" y="644712"/>
                </a:lnTo>
                <a:lnTo>
                  <a:pt x="2032604" y="549706"/>
                </a:lnTo>
                <a:lnTo>
                  <a:pt x="1944906" y="644712"/>
                </a:lnTo>
                <a:close/>
              </a:path>
            </a:pathLst>
          </a:custGeom>
          <a:solidFill>
            <a:srgbClr val="DFE7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38849"/>
            <a:ext cx="4010040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59" y="6038849"/>
            <a:ext cx="4010040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11240" y="6038849"/>
            <a:ext cx="4010040" cy="358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4050" y="581692"/>
            <a:ext cx="395224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140" dirty="0"/>
              <a:t> </a:t>
            </a:r>
            <a:r>
              <a:rPr spc="-35" dirty="0"/>
              <a:t>Cases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8859" y="4202200"/>
            <a:ext cx="2618740" cy="1243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solidFill>
                  <a:srgbClr val="DFE7FF"/>
                </a:solidFill>
                <a:latin typeface="Book Antiqua"/>
                <a:cs typeface="Book Antiqua"/>
              </a:rPr>
              <a:t>Student</a:t>
            </a:r>
            <a:r>
              <a:rPr sz="2600" spc="-2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Elections</a:t>
            </a:r>
            <a:endParaRPr sz="2600">
              <a:latin typeface="Book Antiqua"/>
              <a:cs typeface="Book Antiqua"/>
            </a:endParaRPr>
          </a:p>
          <a:p>
            <a:pPr marL="12700" marR="419100">
              <a:lnSpc>
                <a:spcPct val="117900"/>
              </a:lnSpc>
              <a:spcBef>
                <a:spcPts val="1490"/>
              </a:spcBef>
            </a:pP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Online voting</a:t>
            </a:r>
            <a:r>
              <a:rPr sz="1750" spc="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E7FF"/>
                </a:solidFill>
                <a:latin typeface="Calibri"/>
                <a:cs typeface="Calibri"/>
              </a:rPr>
              <a:t>enhances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participation</a:t>
            </a:r>
            <a:r>
              <a:rPr sz="1750" spc="-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in </a:t>
            </a:r>
            <a:r>
              <a:rPr sz="1750" spc="-10" dirty="0">
                <a:solidFill>
                  <a:srgbClr val="DFE7FF"/>
                </a:solidFill>
                <a:latin typeface="Calibri"/>
                <a:cs typeface="Calibri"/>
              </a:rPr>
              <a:t>schools.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4202200"/>
            <a:ext cx="2895600" cy="1243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solidFill>
                  <a:srgbClr val="DFE7FF"/>
                </a:solidFill>
                <a:latin typeface="Book Antiqua"/>
                <a:cs typeface="Book Antiqua"/>
              </a:rPr>
              <a:t>Local</a:t>
            </a:r>
            <a:r>
              <a:rPr sz="2600" spc="7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Governments</a:t>
            </a:r>
            <a:endParaRPr sz="2600">
              <a:latin typeface="Book Antiqua"/>
              <a:cs typeface="Book Antiqua"/>
            </a:endParaRPr>
          </a:p>
          <a:p>
            <a:pPr marL="12700" marR="5080">
              <a:lnSpc>
                <a:spcPct val="117900"/>
              </a:lnSpc>
              <a:spcBef>
                <a:spcPts val="1490"/>
              </a:spcBef>
            </a:pP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Streamlined</a:t>
            </a:r>
            <a:r>
              <a:rPr sz="1750" spc="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processes</a:t>
            </a:r>
            <a:r>
              <a:rPr sz="1750" spc="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E7FF"/>
                </a:solidFill>
                <a:latin typeface="Calibri"/>
                <a:cs typeface="Calibri"/>
              </a:rPr>
              <a:t>increase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voter</a:t>
            </a:r>
            <a:r>
              <a:rPr sz="1750" spc="-2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engagement</a:t>
            </a:r>
            <a:r>
              <a:rPr sz="1750" spc="-2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E7FF"/>
                </a:solidFill>
                <a:latin typeface="Calibri"/>
                <a:cs typeface="Calibri"/>
              </a:rPr>
              <a:t>locally.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40" y="4202200"/>
            <a:ext cx="2527935" cy="1243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10" dirty="0">
                <a:solidFill>
                  <a:srgbClr val="DFE7FF"/>
                </a:solidFill>
                <a:latin typeface="Book Antiqua"/>
                <a:cs typeface="Book Antiqua"/>
              </a:rPr>
              <a:t>Corporate</a:t>
            </a:r>
            <a:r>
              <a:rPr sz="2600" spc="-15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2600" spc="-45" dirty="0">
                <a:solidFill>
                  <a:srgbClr val="DFE7FF"/>
                </a:solidFill>
                <a:latin typeface="Book Antiqua"/>
                <a:cs typeface="Book Antiqua"/>
              </a:rPr>
              <a:t>Voting</a:t>
            </a:r>
            <a:endParaRPr sz="2600">
              <a:latin typeface="Book Antiqua"/>
              <a:cs typeface="Book Antiqua"/>
            </a:endParaRPr>
          </a:p>
          <a:p>
            <a:pPr marL="12700" marR="162560">
              <a:lnSpc>
                <a:spcPct val="117900"/>
              </a:lnSpc>
              <a:spcBef>
                <a:spcPts val="1490"/>
              </a:spcBef>
            </a:pP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Efficient</a:t>
            </a:r>
            <a:r>
              <a:rPr sz="1750" spc="-7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decision-</a:t>
            </a:r>
            <a:r>
              <a:rPr sz="1750" spc="-10" dirty="0">
                <a:solidFill>
                  <a:srgbClr val="DFE7FF"/>
                </a:solidFill>
                <a:latin typeface="Calibri"/>
                <a:cs typeface="Calibri"/>
              </a:rPr>
              <a:t>making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through</a:t>
            </a:r>
            <a:r>
              <a:rPr sz="1750" spc="-10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DFE7FF"/>
                </a:solidFill>
                <a:latin typeface="Calibri"/>
                <a:cs typeface="Calibri"/>
              </a:rPr>
              <a:t>online</a:t>
            </a:r>
            <a:r>
              <a:rPr sz="1750" spc="-5" dirty="0">
                <a:solidFill>
                  <a:srgbClr val="DFE7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DFE7FF"/>
                </a:solidFill>
                <a:latin typeface="Calibri"/>
                <a:cs typeface="Calibri"/>
              </a:rPr>
              <a:t>platforms.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0882" y="3747446"/>
            <a:ext cx="7523480" cy="30734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ts val="7800"/>
              </a:lnSpc>
              <a:spcBef>
                <a:spcPts val="800"/>
              </a:spcBef>
            </a:pPr>
            <a:r>
              <a:rPr sz="7000" spc="105" dirty="0">
                <a:solidFill>
                  <a:srgbClr val="DFE7FF"/>
                </a:solidFill>
                <a:latin typeface="Book Antiqua"/>
                <a:cs typeface="Book Antiqua"/>
              </a:rPr>
              <a:t>Thank</a:t>
            </a:r>
            <a:r>
              <a:rPr sz="7000" spc="-6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7000" spc="-370" dirty="0">
                <a:solidFill>
                  <a:srgbClr val="DFE7FF"/>
                </a:solidFill>
                <a:latin typeface="Book Antiqua"/>
                <a:cs typeface="Book Antiqua"/>
              </a:rPr>
              <a:t>you</a:t>
            </a:r>
            <a:r>
              <a:rPr sz="7000" spc="-6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7000" dirty="0">
                <a:solidFill>
                  <a:srgbClr val="DFE7FF"/>
                </a:solidFill>
                <a:latin typeface="Book Antiqua"/>
                <a:cs typeface="Book Antiqua"/>
              </a:rPr>
              <a:t>for</a:t>
            </a:r>
            <a:r>
              <a:rPr sz="7000" spc="-6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7000" spc="-315" dirty="0">
                <a:solidFill>
                  <a:srgbClr val="DFE7FF"/>
                </a:solidFill>
                <a:latin typeface="Book Antiqua"/>
                <a:cs typeface="Book Antiqua"/>
              </a:rPr>
              <a:t>your </a:t>
            </a:r>
            <a:r>
              <a:rPr sz="7000" dirty="0">
                <a:solidFill>
                  <a:srgbClr val="DFE7FF"/>
                </a:solidFill>
                <a:latin typeface="Book Antiqua"/>
                <a:cs typeface="Book Antiqua"/>
              </a:rPr>
              <a:t>attention</a:t>
            </a:r>
            <a:r>
              <a:rPr sz="7000" spc="-150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7000" dirty="0">
                <a:solidFill>
                  <a:srgbClr val="DFE7FF"/>
                </a:solidFill>
                <a:latin typeface="Book Antiqua"/>
                <a:cs typeface="Book Antiqua"/>
              </a:rPr>
              <a:t>to</a:t>
            </a:r>
            <a:r>
              <a:rPr sz="7000" spc="-145" dirty="0">
                <a:solidFill>
                  <a:srgbClr val="DFE7FF"/>
                </a:solidFill>
                <a:latin typeface="Book Antiqua"/>
                <a:cs typeface="Book Antiqua"/>
              </a:rPr>
              <a:t> </a:t>
            </a:r>
            <a:r>
              <a:rPr sz="7000" spc="-20" dirty="0">
                <a:solidFill>
                  <a:srgbClr val="DFE7FF"/>
                </a:solidFill>
                <a:latin typeface="Book Antiqua"/>
                <a:cs typeface="Book Antiqua"/>
              </a:rPr>
              <a:t>this </a:t>
            </a:r>
            <a:r>
              <a:rPr sz="7000" spc="-10" dirty="0">
                <a:solidFill>
                  <a:srgbClr val="DFE7FF"/>
                </a:solidFill>
                <a:latin typeface="Book Antiqua"/>
                <a:cs typeface="Book Antiqua"/>
              </a:rPr>
              <a:t>presentation!</a:t>
            </a:r>
            <a:endParaRPr sz="7000" dirty="0">
              <a:latin typeface="Book Antiqua"/>
              <a:cs typeface="Book Antiqu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2D279-0B47-96BC-E06B-05E3E5A52193}"/>
              </a:ext>
            </a:extLst>
          </p:cNvPr>
          <p:cNvSpPr txBox="1"/>
          <p:nvPr/>
        </p:nvSpPr>
        <p:spPr>
          <a:xfrm>
            <a:off x="10668000" y="3810946"/>
            <a:ext cx="929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rgbClr val="808080"/>
                </a:solidFill>
                <a:effectLst/>
                <a:latin typeface="+mj-lt"/>
              </a:rPr>
              <a:t>THE BALLOT IS STRONGER THAN THE BULLET</a:t>
            </a:r>
            <a:endParaRPr lang="en-IN" sz="24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2EA7B-3A95-C49C-45A8-4F06B2F41FB0}"/>
              </a:ext>
            </a:extLst>
          </p:cNvPr>
          <p:cNvSpPr txBox="1"/>
          <p:nvPr/>
        </p:nvSpPr>
        <p:spPr>
          <a:xfrm>
            <a:off x="10744200" y="5614215"/>
            <a:ext cx="10138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Droid Sans"/>
              </a:rPr>
              <a:t>"</a:t>
            </a:r>
            <a:r>
              <a:rPr lang="en-US" sz="20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MAN WITHOUT A VOTE IS A MAN WITHOUT PROTECTION</a:t>
            </a:r>
            <a:endParaRPr lang="en-IN" sz="2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FE7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356</Words>
  <Application>Microsoft Office PowerPoint</Application>
  <PresentationFormat>Custom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Book Antiqua</vt:lpstr>
      <vt:lpstr>Calibri</vt:lpstr>
      <vt:lpstr>Droid Sans</vt:lpstr>
      <vt:lpstr>Office Theme</vt:lpstr>
      <vt:lpstr>Online Voting System</vt:lpstr>
      <vt:lpstr>Introduction to Online Voting</vt:lpstr>
      <vt:lpstr>Need for Online Voting</vt:lpstr>
      <vt:lpstr>Objectives of Online Voting</vt:lpstr>
      <vt:lpstr>System Architecture</vt:lpstr>
      <vt:lpstr>Key Features of Online Voting</vt:lpstr>
      <vt:lpstr>Technologies</vt:lpstr>
      <vt:lpstr>Security Measures</vt:lpstr>
      <vt:lpstr>Advantages</vt:lpstr>
      <vt:lpstr>PowerPoint Presentation</vt:lpstr>
      <vt:lpstr>Use Cases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Online Voting System</dc:title>
  <dc:creator>Manikanta Pallapu</dc:creator>
  <cp:keywords>DAG_rA9JTpA,BAGT16DV0rY,0</cp:keywords>
  <cp:lastModifiedBy>mani kanta</cp:lastModifiedBy>
  <cp:revision>2</cp:revision>
  <dcterms:created xsi:type="dcterms:W3CDTF">2026-01-28T04:43:19Z</dcterms:created>
  <dcterms:modified xsi:type="dcterms:W3CDTF">2026-01-28T08:32:18Z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2026-01-28T00:00:00Z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ainsAiGeneratedContent">
    <vt:lpwstr>Yes</vt:lpwstr>
  </property>
</Properties>
</file>